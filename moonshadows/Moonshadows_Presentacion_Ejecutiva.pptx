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6400800" cy="6400800"/>
          </a:xfrm>
          <a:prstGeom prst="ellipse">
            <a:avLst/>
          </a:prstGeom>
          <a:solidFill>
            <a:srgbClr val="222040"/>
          </a:solidFill>
          <a:ln w="12700">
            <a:solidFill>
              <a:srgbClr val="22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3657600" cy="3657600"/>
          </a:xfrm>
          <a:prstGeom prst="ellipse">
            <a:avLst/>
          </a:prstGeom>
          <a:solidFill>
            <a:srgbClr val="1E1D3A"/>
          </a:solidFill>
          <a:ln w="12700">
            <a:solidFill>
              <a:srgbClr val="1E1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57200"/>
            <a:ext cx="1828800" cy="1828800"/>
          </a:xfrm>
          <a:prstGeom prst="ellipse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8503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9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38328" y="223113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Portafolio de Servicios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" y="2834640"/>
            <a:ext cx="5029200" cy="27432"/>
          </a:xfrm>
          <a:prstGeom prst="rect">
            <a:avLst/>
          </a:prstGeom>
          <a:solidFill>
            <a:srgbClr val="D4A017">
              <a:alpha val="55000"/>
            </a:srgbClr>
          </a:solidFill>
          <a:ln w="12700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29718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Integrando estrategia, operación, finanzas, crecimiento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implementación para un impacto medible.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A6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omnia vincit — El trabajo logra todo.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2111F"/>
          </a:solidFill>
          <a:ln w="12700">
            <a:solidFill>
              <a:srgbClr val="1211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80060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A. Arbeláez   ·   Moonshadows, EIRL   ·   (829) 977 8571   ·   República Dominicana   ·   RNC 133-09509-2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EFE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21208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punto de quiebre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toda organización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crecimiento.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informalidad que antes daba agilidad empieza a limitar la escala. Las decisiones se toman por intuición sin modelo económico. La marca no genera tracción medible. Las estrategias bien diseñadas quedan en documentos.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tensión entre potencial y ejecución es el problema central que Moonshadows resuelve.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2040" y="320040"/>
            <a:ext cx="2011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320040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0056" y="41148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económico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0056" y="1124712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 sin modelos que proyecten impacto ni simulen escenarios.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320040"/>
            <a:ext cx="2011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40880" y="320040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68896" y="41148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sin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 medible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68896" y="1124712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digital que no genera resultados cuantificables.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624328"/>
            <a:ext cx="2011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2624328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0056" y="2715768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que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en papel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0056" y="34290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bien diseñados pero sin metodología de implementación.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2011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2624328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2715768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 que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 el crecimiento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68896" y="342900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que varían por persona y sin arquitectura operativa.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9103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  ·  Portafolio de Servicios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METODOLOGÍA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bloques integrados.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finanzas, mercado y ejecución — un sistema interconectado que transforma complejidad en resultados.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60520" cy="1463040"/>
          </a:xfrm>
          <a:prstGeom prst="rect">
            <a:avLst/>
          </a:prstGeom>
          <a:solidFill>
            <a:srgbClr val="1E2050"/>
          </a:solidFill>
          <a:ln w="12700">
            <a:solidFill>
              <a:srgbClr val="272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74520"/>
            <a:ext cx="64008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26771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Organización, Procesos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Gobierno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2843784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operativa para escalar sin perder consistencia ni calidad.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1874520"/>
            <a:ext cx="4160520" cy="1463040"/>
          </a:xfrm>
          <a:prstGeom prst="rect">
            <a:avLst/>
          </a:prstGeom>
          <a:solidFill>
            <a:srgbClr val="1E2050"/>
          </a:solidFill>
          <a:ln w="12700">
            <a:solidFill>
              <a:srgbClr val="2727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874520"/>
            <a:ext cx="64008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965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01184" y="226771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Finanzas, Negocio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Decisión Estratégica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01184" y="2843784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financiera: modelos, tableros y criterio económico en tiempo real.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65576"/>
            <a:ext cx="4160520" cy="1463040"/>
          </a:xfrm>
          <a:prstGeom prst="rect">
            <a:avLst/>
          </a:prstGeom>
          <a:solidFill>
            <a:srgbClr val="1E2050"/>
          </a:solidFill>
          <a:ln w="12700">
            <a:solidFill>
              <a:srgbClr val="2727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65576"/>
            <a:ext cx="64008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570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8587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Contenido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Crecimiento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" y="4434840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diferenciada, estrategia comercial y campañas con retorno real.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3465576"/>
            <a:ext cx="4160520" cy="1463040"/>
          </a:xfrm>
          <a:prstGeom prst="rect">
            <a:avLst/>
          </a:prstGeom>
          <a:solidFill>
            <a:srgbClr val="1E2050"/>
          </a:solidFill>
          <a:ln w="12700">
            <a:solidFill>
              <a:srgbClr val="2727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3465576"/>
            <a:ext cx="64008" cy="1463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5570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1184" y="38587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Transversales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Implementación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01184" y="4434840"/>
            <a:ext cx="3794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PMO, IA, formación y gestión del cambio: planes convertidos en resultados.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0"/>
            <a:ext cx="41605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9834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83480" y="0"/>
            <a:ext cx="4160520" cy="50292"/>
          </a:xfrm>
          <a:prstGeom prst="rect">
            <a:avLst/>
          </a:prstGeom>
          <a:solidFill>
            <a:srgbClr val="D4A017">
              <a:alpha val="65000"/>
            </a:srgbClr>
          </a:solidFill>
          <a:ln w="12700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28346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EFE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21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Organización,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 y Gobierno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empresa crece, la informalidad se convierte en cuello de botella: la información vive en personas, los procesos varían según quién los ejecuta y los riesgos emergen sin que nadie los haya previsto. Moonshadows diseña sistemas gobernables que permiten escalar sin perder consistencia.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PRINCIPALES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031236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900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organizacional integral: estructura, roles, cultura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421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y rediseño de procesos críticos con métricas de desempeño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35324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941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corporativo y gestión de riesgos (marco COSO)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462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estratégica participativa y alineada con la operación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39412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3982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interna, control documental y trazabilidad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560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QUEDA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INSTALADO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66360" y="1078992"/>
            <a:ext cx="3566160" cy="27432"/>
          </a:xfrm>
          <a:prstGeom prst="rect">
            <a:avLst/>
          </a:prstGeom>
          <a:solidFill>
            <a:srgbClr val="D4A017">
              <a:alpha val="55000"/>
            </a:srgbClr>
          </a:solidFill>
          <a:ln w="12700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261872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2618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documentados y roles claros que no dependen de personas individuales.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523744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523744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internos que reducen riesgos sin ralentizar la operación.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66360" y="3785616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78561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escalar con consistencia, calidad y disciplina operativa.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910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  ·  Bloque 01 de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0"/>
            <a:ext cx="41605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9834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83480" y="0"/>
            <a:ext cx="4160520" cy="50292"/>
          </a:xfrm>
          <a:prstGeom prst="rect">
            <a:avLst/>
          </a:prstGeom>
          <a:solidFill>
            <a:srgbClr val="D4A017">
              <a:alpha val="65000"/>
            </a:srgbClr>
          </a:solidFill>
          <a:ln w="12700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28346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EFE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21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Finanzas, Negocio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Decisión Estratégica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grandes decisiones se toman con información incompleta: nadie modeló el impacto financiero, el flujo de caja sorprende, los riesgos se asumen sin cuantificar. Moonshadows diseña la lógica financiera del negocio: modelos que gobiernan en tiempo real, no solo que reportan lo que ya pasó.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PRINCIPALES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031236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900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 financiera multianual y gestión de flujo de caja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421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 de escenarios y análisis de sensibilidad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35324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941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negocio, factibilidad y valoración de empresas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462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comercial: conversión, ticket y rentabilidad por segmento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39412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3982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integrados con control de desvíos y alertas automáticas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560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QUEDA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INSTALADO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66360" y="1078992"/>
            <a:ext cx="3566160" cy="27432"/>
          </a:xfrm>
          <a:prstGeom prst="rect">
            <a:avLst/>
          </a:prstGeom>
          <a:solidFill>
            <a:srgbClr val="D4A017">
              <a:alpha val="55000"/>
            </a:srgbClr>
          </a:solidFill>
          <a:ln w="12700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261872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2618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financieros que evalúan decisiones y simulan escenarios antes de comprometer capital.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523744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523744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que permiten actuar rápido ante desviaciones.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66360" y="3785616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78561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sobre rentabilidad real por línea, cliente o segmento.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910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  ·  Bloque 02 de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0"/>
            <a:ext cx="41605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9834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83480" y="0"/>
            <a:ext cx="4160520" cy="50292"/>
          </a:xfrm>
          <a:prstGeom prst="rect">
            <a:avLst/>
          </a:prstGeom>
          <a:solidFill>
            <a:srgbClr val="D4A017">
              <a:alpha val="65000"/>
            </a:srgbClr>
          </a:solidFill>
          <a:ln w="12700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28346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EFE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21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Marca, Contenido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Crecimiento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reactivo —clientes por recomendación o por casualidad— es ineficiente y difícil de escalar. El problema no es falta de creatividad: es ausencia de claridad estratégica. Moonshadows construye presencia diferenciada y campañas medibles con retorno real.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PRINCIPALES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031236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900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única, identidad visual y narrativa de marca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421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web y tiendas en línea optimizados para conversión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35324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941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en Meta y Google Ads con optimización de ROAS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462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Embudos de captación, nutrición y conversión de audiencias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39412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3982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de métricas integradas para optimización continua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560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QUEDA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INSTALADO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66360" y="1078992"/>
            <a:ext cx="3566160" cy="27432"/>
          </a:xfrm>
          <a:prstGeom prst="rect">
            <a:avLst/>
          </a:prstGeom>
          <a:solidFill>
            <a:srgbClr val="D4A017">
              <a:alpha val="55000"/>
            </a:srgbClr>
          </a:solidFill>
          <a:ln w="12700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261872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2618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coherente y diferenciada con estrategia comercial clara: audiencia, mensaje, canal y métrica.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523744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523744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digital que vende y contenido que atrae y educa.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66360" y="3785616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78561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intencional y escalable, resultado de estrategia.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910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  ·  Bloque 03 de 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0"/>
            <a:ext cx="41605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9834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83480" y="0"/>
            <a:ext cx="4160520" cy="50292"/>
          </a:xfrm>
          <a:prstGeom prst="rect">
            <a:avLst/>
          </a:prstGeom>
          <a:solidFill>
            <a:srgbClr val="D4A017">
              <a:alpha val="65000"/>
            </a:srgbClr>
          </a:solidFill>
          <a:ln w="12700">
            <a:solidFill>
              <a:srgbClr val="D4A017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28346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EFE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21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Capacidades Transversales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Implementación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80 % del valor de cualquier estrategia está en la ejecución. El Bloque 4 convierte diagnósticos, diseños y planes en resultados reales mediante PMO estructurada, gobernanza ejecutiva, formación, automatización con IA y gestión del cambio. Sin este bloque, los otros tres quedan en papel.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PRINCIPALES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031236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900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PMO: plan, hitos, seguimiento de avance, riesgos y cierre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4213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tableros y flujos comerciales con IA aplicada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35324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9417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progresiva y transferencia de metodología al equipo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0462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cambio: resistencias, comunicación y medición de adopción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39412"/>
            <a:ext cx="80467" cy="80467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398264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ejecutivos con narrativas de avance y escalamiento oportuno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5603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QUEDA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INSTALADO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66360" y="1078992"/>
            <a:ext cx="3566160" cy="27432"/>
          </a:xfrm>
          <a:prstGeom prst="rect">
            <a:avLst/>
          </a:prstGeom>
          <a:solidFill>
            <a:srgbClr val="D4A017">
              <a:alpha val="55000"/>
            </a:srgbClr>
          </a:solidFill>
          <a:ln w="12700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261872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2618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que no queda en papel: planes que se convierten en resultados medibles.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523744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523744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con capacidad real de ejecución e independencia metodológica.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66360" y="3785616"/>
            <a:ext cx="45720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78561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sostenibles medidos desde el primer mes de implementación.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9103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  ·  Bloque 04 de 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ACOMPAÑAMIENTO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formato adecuado para cada etapa.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80160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" y="1700784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Puntual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6616" y="2560320"/>
            <a:ext cx="1755648" cy="274320"/>
          </a:xfrm>
          <a:prstGeom prst="rect">
            <a:avLst/>
          </a:prstGeom>
          <a:solidFill>
            <a:srgbClr val="F0ECE0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2569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semanas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" y="2971800"/>
            <a:ext cx="17556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colaborativo, validación de hallazgos y reporte con opciones de acción. Ideal para entender un problema específico o tomar una decisión crítica.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59152" y="128016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59152" y="1280160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1700784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Técnico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Hoja de Ruta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87168" y="2560320"/>
            <a:ext cx="1755648" cy="274320"/>
          </a:xfrm>
          <a:prstGeom prst="rect">
            <a:avLst/>
          </a:prstGeom>
          <a:solidFill>
            <a:srgbClr val="F0ECE0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2569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16 semanas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87168" y="2971800"/>
            <a:ext cx="17556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estructurada con detalle de qué, cuándo, quién y con qué recursos. Entrega un plan ejecutable y priorizado.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9704" y="1280160"/>
            <a:ext cx="2011680" cy="3611880"/>
          </a:xfrm>
          <a:prstGeom prst="rect">
            <a:avLst/>
          </a:prstGeom>
          <a:solidFill>
            <a:srgbClr val="1A1A2E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9704" y="1280160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1700784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Acompañada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17720" y="2560320"/>
            <a:ext cx="1755648" cy="274320"/>
          </a:xfrm>
          <a:prstGeom prst="rect">
            <a:avLst/>
          </a:prstGeom>
          <a:solidFill>
            <a:srgbClr val="252448"/>
          </a:solidFill>
          <a:ln w="12700">
            <a:solidFill>
              <a:srgbClr val="2524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569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12 meses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971800"/>
            <a:ext cx="17556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real junto al equipo cliente: PMO, seguimiento, formación y ajustes sobre la marcha. El modelo de transformación más profunda y sostenible.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0256" y="1280160"/>
            <a:ext cx="2011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20256" y="1280160"/>
            <a:ext cx="201168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1371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48272" y="1700784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C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Estratégico Continuo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748272" y="2560320"/>
            <a:ext cx="1755648" cy="274320"/>
          </a:xfrm>
          <a:prstGeom prst="rect">
            <a:avLst/>
          </a:prstGeom>
          <a:solidFill>
            <a:srgbClr val="F0ECE0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2569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48272" y="2971800"/>
            <a:ext cx="17556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estratégica del equipo a largo plazo: revisiones cadenciadas, asesoría en nuevos desafíos y optimización permanente.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  ·  Portafolio de Servicios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011680"/>
            <a:ext cx="5943600" cy="5943600"/>
          </a:xfrm>
          <a:prstGeom prst="ellipse">
            <a:avLst/>
          </a:prstGeom>
          <a:solidFill>
            <a:srgbClr val="222040"/>
          </a:solidFill>
          <a:ln w="12700">
            <a:solidFill>
              <a:srgbClr val="22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474720" cy="3474720"/>
          </a:xfrm>
          <a:prstGeom prst="ellipse">
            <a:avLst/>
          </a:prstGeom>
          <a:solidFill>
            <a:srgbClr val="1E1D3A"/>
          </a:solidFill>
          <a:ln w="12700">
            <a:solidFill>
              <a:srgbClr val="1E1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Transformación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tangible.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4389120" cy="27432"/>
          </a:xfrm>
          <a:prstGeom prst="rect">
            <a:avLst/>
          </a:prstGeom>
          <a:solidFill>
            <a:srgbClr val="D4A017">
              <a:alpha val="55000"/>
            </a:srgbClr>
          </a:solidFill>
          <a:ln w="12700">
            <a:solidFill>
              <a:srgbClr val="D4A017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4688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Acompañamos a su organización a estructurar mejor, decidir mejor, crecer mejor e implementar con método.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E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invitamos a confiar en nosotros para convertir sus desafíos en oportunidades y su visión en una realidad sostenible y exitosa.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977640"/>
            <a:ext cx="5486400" cy="868680"/>
          </a:xfrm>
          <a:prstGeom prst="rect">
            <a:avLst/>
          </a:prstGeom>
          <a:solidFill>
            <a:srgbClr val="12111F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977640"/>
            <a:ext cx="50292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4023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A. Arbeláez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" y="43616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Moonshadows, EIRL   ·   (829) 977 8571   ·   RNC 133-09509-2   ·   República Dominicana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4005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omnia vincit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4462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8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trabajo logra todo.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Moonshadows – Portafolio de Servicios</dc:title>
  <dc:subject>PptxGenJS Presentation</dc:subject>
  <dc:creator>Carlos A. Arbeláez</dc:creator>
  <cp:lastModifiedBy>Carlos A. Arbeláez</cp:lastModifiedBy>
  <cp:revision>1</cp:revision>
  <dcterms:created xsi:type="dcterms:W3CDTF">2026-05-12T22:33:14Z</dcterms:created>
  <dcterms:modified xsi:type="dcterms:W3CDTF">2026-05-12T22:33:14Z</dcterms:modified>
</cp:coreProperties>
</file>